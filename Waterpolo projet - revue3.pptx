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Poppins Semi-Bold" charset="1" panose="00000700000000000000"/>
      <p:regular r:id="rId23"/>
    </p:embeddedFont>
    <p:embeddedFont>
      <p:font typeface="Poppins Bold" charset="1" panose="00000800000000000000"/>
      <p:regular r:id="rId24"/>
    </p:embeddedFont>
    <p:embeddedFont>
      <p:font typeface="Poppins Ultra-Bold" charset="1" panose="00000900000000000000"/>
      <p:regular r:id="rId25"/>
    </p:embeddedFont>
    <p:embeddedFont>
      <p:font typeface="Poppins" charset="1" panose="00000500000000000000"/>
      <p:regular r:id="rId26"/>
    </p:embeddedFont>
    <p:embeddedFont>
      <p:font typeface="Open Sans" charset="1" panose="020B0606030504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jpeg" Type="http://schemas.openxmlformats.org/officeDocument/2006/relationships/image"/><Relationship Id="rId11" Target="../media/image18.pn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31.jpeg" Type="http://schemas.openxmlformats.org/officeDocument/2006/relationships/image"/><Relationship Id="rId7" Target="../media/image3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2" Target="../media/image37.png" Type="http://schemas.openxmlformats.org/officeDocument/2006/relationships/image"/><Relationship Id="rId3" Target="https://www.canva.com/design/DAHCOr_OUsg/7n_bUoa0tbzcciq53qvrHA/edit?utm_content=DAHCOr_OUsg&amp;utm_campaign=designshare&amp;utm_medium=link2&amp;utm_source=sharebutton" TargetMode="External" Type="http://schemas.openxmlformats.org/officeDocument/2006/relationships/hyperlink"/><Relationship Id="rId4" Target="../media/image38.jpe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98650" y="6168459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98650" y="6588571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98650" y="7008682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98650" y="7428794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98650" y="7848905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98650" y="8269017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98650" y="8689128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5"/>
                </a:lnTo>
                <a:lnTo>
                  <a:pt x="0" y="2249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998650" y="9109240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754085" y="2492631"/>
            <a:ext cx="13220591" cy="5925652"/>
            <a:chOff x="0" y="0"/>
            <a:chExt cx="3481966" cy="15606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81967" cy="1560666"/>
            </a:xfrm>
            <a:custGeom>
              <a:avLst/>
              <a:gdLst/>
              <a:ahLst/>
              <a:cxnLst/>
              <a:rect r="r" b="b" t="t" l="l"/>
              <a:pathLst>
                <a:path h="1560666" w="3481967">
                  <a:moveTo>
                    <a:pt x="58560" y="0"/>
                  </a:moveTo>
                  <a:lnTo>
                    <a:pt x="3423407" y="0"/>
                  </a:lnTo>
                  <a:cubicBezTo>
                    <a:pt x="3455748" y="0"/>
                    <a:pt x="3481967" y="26218"/>
                    <a:pt x="3481967" y="58560"/>
                  </a:cubicBezTo>
                  <a:lnTo>
                    <a:pt x="3481967" y="1502106"/>
                  </a:lnTo>
                  <a:cubicBezTo>
                    <a:pt x="3481967" y="1517637"/>
                    <a:pt x="3475797" y="1532532"/>
                    <a:pt x="3464815" y="1543514"/>
                  </a:cubicBezTo>
                  <a:cubicBezTo>
                    <a:pt x="3453833" y="1554496"/>
                    <a:pt x="3438938" y="1560666"/>
                    <a:pt x="3423407" y="1560666"/>
                  </a:cubicBezTo>
                  <a:lnTo>
                    <a:pt x="58560" y="1560666"/>
                  </a:lnTo>
                  <a:cubicBezTo>
                    <a:pt x="43029" y="1560666"/>
                    <a:pt x="28134" y="1554496"/>
                    <a:pt x="17152" y="1543514"/>
                  </a:cubicBezTo>
                  <a:cubicBezTo>
                    <a:pt x="6170" y="1532532"/>
                    <a:pt x="0" y="1517637"/>
                    <a:pt x="0" y="1502106"/>
                  </a:cubicBezTo>
                  <a:lnTo>
                    <a:pt x="0" y="58560"/>
                  </a:lnTo>
                  <a:cubicBezTo>
                    <a:pt x="0" y="43029"/>
                    <a:pt x="6170" y="28134"/>
                    <a:pt x="17152" y="17152"/>
                  </a:cubicBezTo>
                  <a:cubicBezTo>
                    <a:pt x="28134" y="6170"/>
                    <a:pt x="43029" y="0"/>
                    <a:pt x="58560" y="0"/>
                  </a:cubicBezTo>
                  <a:close/>
                </a:path>
              </a:pathLst>
            </a:custGeom>
            <a:solidFill>
              <a:srgbClr val="0762A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3481966" cy="1627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696732" y="6805289"/>
            <a:ext cx="3846418" cy="640486"/>
            <a:chOff x="0" y="0"/>
            <a:chExt cx="1013048" cy="1686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3048" cy="168688"/>
            </a:xfrm>
            <a:custGeom>
              <a:avLst/>
              <a:gdLst/>
              <a:ahLst/>
              <a:cxnLst/>
              <a:rect r="r" b="b" t="t" l="l"/>
              <a:pathLst>
                <a:path h="168688" w="1013048">
                  <a:moveTo>
                    <a:pt x="84344" y="0"/>
                  </a:moveTo>
                  <a:lnTo>
                    <a:pt x="928704" y="0"/>
                  </a:lnTo>
                  <a:cubicBezTo>
                    <a:pt x="975286" y="0"/>
                    <a:pt x="1013048" y="37762"/>
                    <a:pt x="1013048" y="84344"/>
                  </a:cubicBezTo>
                  <a:lnTo>
                    <a:pt x="1013048" y="84344"/>
                  </a:lnTo>
                  <a:cubicBezTo>
                    <a:pt x="1013048" y="106713"/>
                    <a:pt x="1004162" y="128166"/>
                    <a:pt x="988345" y="143984"/>
                  </a:cubicBezTo>
                  <a:cubicBezTo>
                    <a:pt x="972527" y="159802"/>
                    <a:pt x="951074" y="168688"/>
                    <a:pt x="928704" y="168688"/>
                  </a:cubicBezTo>
                  <a:lnTo>
                    <a:pt x="84344" y="168688"/>
                  </a:lnTo>
                  <a:cubicBezTo>
                    <a:pt x="61974" y="168688"/>
                    <a:pt x="40521" y="159802"/>
                    <a:pt x="24704" y="143984"/>
                  </a:cubicBezTo>
                  <a:cubicBezTo>
                    <a:pt x="8886" y="128166"/>
                    <a:pt x="0" y="106713"/>
                    <a:pt x="0" y="84344"/>
                  </a:cubicBezTo>
                  <a:lnTo>
                    <a:pt x="0" y="84344"/>
                  </a:lnTo>
                  <a:cubicBezTo>
                    <a:pt x="0" y="61974"/>
                    <a:pt x="8886" y="40521"/>
                    <a:pt x="24704" y="24704"/>
                  </a:cubicBezTo>
                  <a:cubicBezTo>
                    <a:pt x="40521" y="8886"/>
                    <a:pt x="61974" y="0"/>
                    <a:pt x="84344" y="0"/>
                  </a:cubicBezTo>
                  <a:close/>
                </a:path>
              </a:pathLst>
            </a:custGeom>
            <a:solidFill>
              <a:srgbClr val="B5DE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013048" cy="235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859951" y="-1010947"/>
            <a:ext cx="4103110" cy="4114800"/>
          </a:xfrm>
          <a:custGeom>
            <a:avLst/>
            <a:gdLst/>
            <a:ahLst/>
            <a:cxnLst/>
            <a:rect r="r" b="b" t="t" l="l"/>
            <a:pathLst>
              <a:path h="4114800" w="4103110">
                <a:moveTo>
                  <a:pt x="0" y="0"/>
                </a:moveTo>
                <a:lnTo>
                  <a:pt x="4103111" y="0"/>
                </a:lnTo>
                <a:lnTo>
                  <a:pt x="41031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7739886" y="9699237"/>
            <a:ext cx="534915" cy="53491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515790" y="2920924"/>
            <a:ext cx="4745764" cy="474576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1412" t="0" r="-4701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787171" y="6912237"/>
            <a:ext cx="354853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Revue de projet finale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696732" y="3823939"/>
            <a:ext cx="7277945" cy="152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899"/>
              </a:lnSpc>
              <a:spcBef>
                <a:spcPct val="0"/>
              </a:spcBef>
            </a:pPr>
            <a:r>
              <a:rPr lang="en-US" b="true" sz="8499">
                <a:solidFill>
                  <a:srgbClr val="83B4E4"/>
                </a:solidFill>
                <a:latin typeface="Poppins Bold"/>
                <a:ea typeface="Poppins Bold"/>
                <a:cs typeface="Poppins Bold"/>
                <a:sym typeface="Poppins Bold"/>
              </a:rPr>
              <a:t>Projet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96732" y="4976402"/>
            <a:ext cx="8056317" cy="152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899"/>
              </a:lnSpc>
              <a:spcBef>
                <a:spcPct val="0"/>
              </a:spcBef>
            </a:pPr>
            <a:r>
              <a:rPr lang="en-US" b="true" sz="8499">
                <a:solidFill>
                  <a:srgbClr val="F7F9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Waterpolo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96732" y="3398464"/>
            <a:ext cx="7034164" cy="42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220">
                <a:solidFill>
                  <a:srgbClr val="F7F9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Le groupe de waterpolo vous présente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49088" y="187857"/>
            <a:ext cx="1343157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762A4"/>
                </a:solidFill>
                <a:latin typeface="Poppins Bold"/>
                <a:ea typeface="Poppins Bold"/>
                <a:cs typeface="Poppins Bold"/>
                <a:sym typeface="Poppins Bold"/>
              </a:rPr>
              <a:t>Kemel BELFQUIH, Honoré MITCHOZOUNNOU, Lise WISNIOWSKI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318165" y="7844148"/>
            <a:ext cx="184764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2025-2026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952128" y="9720949"/>
            <a:ext cx="11043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387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69221" y="426197"/>
            <a:ext cx="3536599" cy="689710"/>
            <a:chOff x="0" y="0"/>
            <a:chExt cx="674539" cy="131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4539" cy="131549"/>
            </a:xfrm>
            <a:custGeom>
              <a:avLst/>
              <a:gdLst/>
              <a:ahLst/>
              <a:cxnLst/>
              <a:rect r="r" b="b" t="t" l="l"/>
              <a:pathLst>
                <a:path h="131549" w="674539">
                  <a:moveTo>
                    <a:pt x="65775" y="0"/>
                  </a:moveTo>
                  <a:lnTo>
                    <a:pt x="608764" y="0"/>
                  </a:lnTo>
                  <a:cubicBezTo>
                    <a:pt x="626209" y="0"/>
                    <a:pt x="642939" y="6930"/>
                    <a:pt x="655274" y="19265"/>
                  </a:cubicBezTo>
                  <a:cubicBezTo>
                    <a:pt x="667609" y="31600"/>
                    <a:pt x="674539" y="48330"/>
                    <a:pt x="674539" y="65775"/>
                  </a:cubicBezTo>
                  <a:lnTo>
                    <a:pt x="674539" y="65775"/>
                  </a:lnTo>
                  <a:cubicBezTo>
                    <a:pt x="674539" y="83219"/>
                    <a:pt x="667609" y="99949"/>
                    <a:pt x="655274" y="112284"/>
                  </a:cubicBezTo>
                  <a:cubicBezTo>
                    <a:pt x="642939" y="124619"/>
                    <a:pt x="626209" y="131549"/>
                    <a:pt x="608764" y="131549"/>
                  </a:cubicBezTo>
                  <a:lnTo>
                    <a:pt x="65775" y="131549"/>
                  </a:lnTo>
                  <a:cubicBezTo>
                    <a:pt x="48330" y="131549"/>
                    <a:pt x="31600" y="124619"/>
                    <a:pt x="19265" y="112284"/>
                  </a:cubicBezTo>
                  <a:cubicBezTo>
                    <a:pt x="6930" y="99949"/>
                    <a:pt x="0" y="83219"/>
                    <a:pt x="0" y="65775"/>
                  </a:cubicBezTo>
                  <a:lnTo>
                    <a:pt x="0" y="65775"/>
                  </a:lnTo>
                  <a:cubicBezTo>
                    <a:pt x="0" y="48330"/>
                    <a:pt x="6930" y="31600"/>
                    <a:pt x="19265" y="19265"/>
                  </a:cubicBezTo>
                  <a:cubicBezTo>
                    <a:pt x="31600" y="6930"/>
                    <a:pt x="48330" y="0"/>
                    <a:pt x="65775" y="0"/>
                  </a:cubicBezTo>
                  <a:close/>
                </a:path>
              </a:pathLst>
            </a:custGeom>
            <a:solidFill>
              <a:srgbClr val="0762A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674539" cy="198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53837" y="1983586"/>
            <a:ext cx="5556104" cy="6501234"/>
            <a:chOff x="0" y="0"/>
            <a:chExt cx="1463336" cy="17122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336" cy="1712259"/>
            </a:xfrm>
            <a:custGeom>
              <a:avLst/>
              <a:gdLst/>
              <a:ahLst/>
              <a:cxnLst/>
              <a:rect r="r" b="b" t="t" l="l"/>
              <a:pathLst>
                <a:path h="1712259" w="1463336">
                  <a:moveTo>
                    <a:pt x="51556" y="0"/>
                  </a:moveTo>
                  <a:lnTo>
                    <a:pt x="1411780" y="0"/>
                  </a:lnTo>
                  <a:cubicBezTo>
                    <a:pt x="1440254" y="0"/>
                    <a:pt x="1463336" y="23082"/>
                    <a:pt x="1463336" y="51556"/>
                  </a:cubicBezTo>
                  <a:lnTo>
                    <a:pt x="1463336" y="1660703"/>
                  </a:lnTo>
                  <a:cubicBezTo>
                    <a:pt x="1463336" y="1689177"/>
                    <a:pt x="1440254" y="1712259"/>
                    <a:pt x="1411780" y="1712259"/>
                  </a:cubicBezTo>
                  <a:lnTo>
                    <a:pt x="51556" y="1712259"/>
                  </a:lnTo>
                  <a:cubicBezTo>
                    <a:pt x="23082" y="1712259"/>
                    <a:pt x="0" y="1689177"/>
                    <a:pt x="0" y="1660703"/>
                  </a:cubicBezTo>
                  <a:lnTo>
                    <a:pt x="0" y="51556"/>
                  </a:lnTo>
                  <a:cubicBezTo>
                    <a:pt x="0" y="23082"/>
                    <a:pt x="23082" y="0"/>
                    <a:pt x="51556" y="0"/>
                  </a:cubicBezTo>
                  <a:close/>
                </a:path>
              </a:pathLst>
            </a:custGeom>
            <a:solidFill>
              <a:srgbClr val="B5DE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463336" cy="1778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859951" y="-1010947"/>
            <a:ext cx="4103110" cy="4114800"/>
          </a:xfrm>
          <a:custGeom>
            <a:avLst/>
            <a:gdLst/>
            <a:ahLst/>
            <a:cxnLst/>
            <a:rect r="r" b="b" t="t" l="l"/>
            <a:pathLst>
              <a:path h="4114800" w="4103110">
                <a:moveTo>
                  <a:pt x="0" y="0"/>
                </a:moveTo>
                <a:lnTo>
                  <a:pt x="4103111" y="0"/>
                </a:lnTo>
                <a:lnTo>
                  <a:pt x="41031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20855" y="530763"/>
            <a:ext cx="87558" cy="9631405"/>
          </a:xfrm>
          <a:custGeom>
            <a:avLst/>
            <a:gdLst/>
            <a:ahLst/>
            <a:cxnLst/>
            <a:rect r="r" b="b" t="t" l="l"/>
            <a:pathLst>
              <a:path h="9631405" w="87558">
                <a:moveTo>
                  <a:pt x="0" y="0"/>
                </a:moveTo>
                <a:lnTo>
                  <a:pt x="87558" y="0"/>
                </a:lnTo>
                <a:lnTo>
                  <a:pt x="87558" y="9631406"/>
                </a:lnTo>
                <a:lnTo>
                  <a:pt x="0" y="9631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256709">
            <a:off x="9568045" y="9269097"/>
            <a:ext cx="7315200" cy="1510289"/>
          </a:xfrm>
          <a:custGeom>
            <a:avLst/>
            <a:gdLst/>
            <a:ahLst/>
            <a:cxnLst/>
            <a:rect r="r" b="b" t="t" l="l"/>
            <a:pathLst>
              <a:path h="1510289" w="7315200">
                <a:moveTo>
                  <a:pt x="0" y="0"/>
                </a:moveTo>
                <a:lnTo>
                  <a:pt x="7315200" y="0"/>
                </a:lnTo>
                <a:lnTo>
                  <a:pt x="7315200" y="1510290"/>
                </a:lnTo>
                <a:lnTo>
                  <a:pt x="0" y="15102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808703" y="2146297"/>
            <a:ext cx="5246370" cy="6175813"/>
            <a:chOff x="0" y="0"/>
            <a:chExt cx="812800" cy="9567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956795"/>
            </a:xfrm>
            <a:custGeom>
              <a:avLst/>
              <a:gdLst/>
              <a:ahLst/>
              <a:cxnLst/>
              <a:rect r="r" b="b" t="t" l="l"/>
              <a:pathLst>
                <a:path h="956795" w="81280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922855"/>
                  </a:lnTo>
                  <a:cubicBezTo>
                    <a:pt x="812800" y="941599"/>
                    <a:pt x="797604" y="956795"/>
                    <a:pt x="778860" y="956795"/>
                  </a:cubicBezTo>
                  <a:lnTo>
                    <a:pt x="33940" y="956795"/>
                  </a:lnTo>
                  <a:cubicBezTo>
                    <a:pt x="15196" y="956795"/>
                    <a:pt x="0" y="941599"/>
                    <a:pt x="0" y="922855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8"/>
              <a:stretch>
                <a:fillRect l="-38218" t="0" r="-38218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55133" y="1888336"/>
            <a:ext cx="8712823" cy="55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5"/>
              </a:lnSpc>
              <a:spcBef>
                <a:spcPct val="0"/>
              </a:spcBef>
            </a:pPr>
            <a:r>
              <a:rPr lang="en-US" b="true" sz="3082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1 - Présentation du projet et de l’entreprise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53712" y="428575"/>
            <a:ext cx="3367617" cy="589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39"/>
              </a:lnSpc>
              <a:spcBef>
                <a:spcPct val="0"/>
              </a:spcBef>
            </a:pPr>
            <a:r>
              <a:rPr lang="en-US" b="true" sz="3314">
                <a:solidFill>
                  <a:srgbClr val="F7F9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Sommaire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5133" y="3562436"/>
            <a:ext cx="8712823" cy="55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5"/>
              </a:lnSpc>
              <a:spcBef>
                <a:spcPct val="0"/>
              </a:spcBef>
            </a:pPr>
            <a:r>
              <a:rPr lang="en-US" b="true" sz="3082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3 - Les besoins de l’entreprise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5133" y="4432164"/>
            <a:ext cx="8712823" cy="55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5"/>
              </a:lnSpc>
              <a:spcBef>
                <a:spcPct val="0"/>
              </a:spcBef>
            </a:pPr>
            <a:r>
              <a:rPr lang="en-US" b="true" sz="3082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4 - Visite du club de waterpolo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5133" y="5217821"/>
            <a:ext cx="8712823" cy="55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5"/>
              </a:lnSpc>
              <a:spcBef>
                <a:spcPct val="0"/>
              </a:spcBef>
            </a:pPr>
            <a:r>
              <a:rPr lang="en-US" b="true" sz="3082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5 - Contraintes matérielles et logicielles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5133" y="6074113"/>
            <a:ext cx="8712823" cy="55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5"/>
              </a:lnSpc>
              <a:spcBef>
                <a:spcPct val="0"/>
              </a:spcBef>
            </a:pPr>
            <a:r>
              <a:rPr lang="en-US" b="true" sz="3082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6 - La feuille de route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946256" y="9809337"/>
            <a:ext cx="17502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387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5133" y="2692911"/>
            <a:ext cx="8712823" cy="55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5"/>
              </a:lnSpc>
              <a:spcBef>
                <a:spcPct val="0"/>
              </a:spcBef>
            </a:pPr>
            <a:r>
              <a:rPr lang="en-US" b="true" sz="3082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2 - Problèmes rencontrés avec ce système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98650" y="6650273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98650" y="7074020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98650" y="7497767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98650" y="7921514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5"/>
                </a:lnTo>
                <a:lnTo>
                  <a:pt x="0" y="22498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98650" y="8345261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5"/>
                </a:lnTo>
                <a:lnTo>
                  <a:pt x="0" y="22498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98650" y="8769009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98650" y="9192756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998650" y="9616503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342273" y="347957"/>
            <a:ext cx="8980708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1 - </a:t>
            </a:r>
            <a:r>
              <a:rPr lang="en-US" b="true" sz="4800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Présentation du projet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39599" y="1187537"/>
            <a:ext cx="6186056" cy="868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83B4E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et de l’entreprise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9442" y="1893884"/>
            <a:ext cx="3716387" cy="92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1"/>
              </a:lnSpc>
              <a:spcBef>
                <a:spcPct val="0"/>
              </a:spcBef>
            </a:pPr>
            <a:r>
              <a:rPr lang="en-US" sz="5129" u="sng">
                <a:solidFill>
                  <a:srgbClr val="0762A4"/>
                </a:solidFill>
                <a:latin typeface="Poppins"/>
                <a:ea typeface="Poppins"/>
                <a:cs typeface="Poppins"/>
                <a:sym typeface="Poppins"/>
              </a:rPr>
              <a:t>L’e</a:t>
            </a:r>
            <a:r>
              <a:rPr lang="en-US" sz="5129" u="sng">
                <a:solidFill>
                  <a:srgbClr val="0762A4"/>
                </a:solidFill>
                <a:latin typeface="Poppins"/>
                <a:ea typeface="Poppins"/>
                <a:cs typeface="Poppins"/>
                <a:sym typeface="Poppins"/>
              </a:rPr>
              <a:t>ntreprise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61932" y="3325016"/>
            <a:ext cx="8467794" cy="6145158"/>
            <a:chOff x="0" y="0"/>
            <a:chExt cx="11290392" cy="819354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1290392" cy="8193544"/>
              <a:chOff x="0" y="0"/>
              <a:chExt cx="1832502" cy="132986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832502" cy="1329864"/>
              </a:xfrm>
              <a:custGeom>
                <a:avLst/>
                <a:gdLst/>
                <a:ahLst/>
                <a:cxnLst/>
                <a:rect r="r" b="b" t="t" l="l"/>
                <a:pathLst>
                  <a:path h="1329864" w="1832502">
                    <a:moveTo>
                      <a:pt x="32589" y="0"/>
                    </a:moveTo>
                    <a:lnTo>
                      <a:pt x="1799913" y="0"/>
                    </a:lnTo>
                    <a:cubicBezTo>
                      <a:pt x="1808556" y="0"/>
                      <a:pt x="1816845" y="3433"/>
                      <a:pt x="1822957" y="9545"/>
                    </a:cubicBezTo>
                    <a:cubicBezTo>
                      <a:pt x="1829069" y="15657"/>
                      <a:pt x="1832502" y="23946"/>
                      <a:pt x="1832502" y="32589"/>
                    </a:cubicBezTo>
                    <a:lnTo>
                      <a:pt x="1832502" y="1297275"/>
                    </a:lnTo>
                    <a:cubicBezTo>
                      <a:pt x="1832502" y="1305918"/>
                      <a:pt x="1829069" y="1314207"/>
                      <a:pt x="1822957" y="1320319"/>
                    </a:cubicBezTo>
                    <a:cubicBezTo>
                      <a:pt x="1816845" y="1326431"/>
                      <a:pt x="1808556" y="1329864"/>
                      <a:pt x="1799913" y="1329864"/>
                    </a:cubicBezTo>
                    <a:lnTo>
                      <a:pt x="32589" y="1329864"/>
                    </a:lnTo>
                    <a:cubicBezTo>
                      <a:pt x="23946" y="1329864"/>
                      <a:pt x="15657" y="1326431"/>
                      <a:pt x="9545" y="1320319"/>
                    </a:cubicBezTo>
                    <a:cubicBezTo>
                      <a:pt x="3433" y="1314207"/>
                      <a:pt x="0" y="1305918"/>
                      <a:pt x="0" y="1297275"/>
                    </a:cubicBezTo>
                    <a:lnTo>
                      <a:pt x="0" y="32589"/>
                    </a:lnTo>
                    <a:cubicBezTo>
                      <a:pt x="0" y="23946"/>
                      <a:pt x="3433" y="15657"/>
                      <a:pt x="9545" y="9545"/>
                    </a:cubicBezTo>
                    <a:cubicBezTo>
                      <a:pt x="15657" y="3433"/>
                      <a:pt x="23946" y="0"/>
                      <a:pt x="32589" y="0"/>
                    </a:cubicBezTo>
                    <a:close/>
                  </a:path>
                </a:pathLst>
              </a:custGeom>
              <a:solidFill>
                <a:srgbClr val="B5DEFF"/>
              </a:solidFill>
              <a:ln w="47625" cap="rnd">
                <a:solidFill>
                  <a:srgbClr val="F7F9FF"/>
                </a:soli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66675"/>
                <a:ext cx="1832502" cy="13965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663136" y="538751"/>
              <a:ext cx="9964120" cy="5604957"/>
              <a:chOff x="0" y="0"/>
              <a:chExt cx="951318" cy="53512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51318" cy="535129"/>
              </a:xfrm>
              <a:custGeom>
                <a:avLst/>
                <a:gdLst/>
                <a:ahLst/>
                <a:cxnLst/>
                <a:rect r="r" b="b" t="t" l="l"/>
                <a:pathLst>
                  <a:path h="535129" w="951318">
                    <a:moveTo>
                      <a:pt x="25737" y="0"/>
                    </a:moveTo>
                    <a:lnTo>
                      <a:pt x="925581" y="0"/>
                    </a:lnTo>
                    <a:cubicBezTo>
                      <a:pt x="932407" y="0"/>
                      <a:pt x="938953" y="2712"/>
                      <a:pt x="943779" y="7538"/>
                    </a:cubicBezTo>
                    <a:cubicBezTo>
                      <a:pt x="948606" y="12365"/>
                      <a:pt x="951318" y="18911"/>
                      <a:pt x="951318" y="25737"/>
                    </a:cubicBezTo>
                    <a:lnTo>
                      <a:pt x="951318" y="509392"/>
                    </a:lnTo>
                    <a:cubicBezTo>
                      <a:pt x="951318" y="523607"/>
                      <a:pt x="939795" y="535129"/>
                      <a:pt x="925581" y="535129"/>
                    </a:cubicBezTo>
                    <a:lnTo>
                      <a:pt x="25737" y="535129"/>
                    </a:lnTo>
                    <a:cubicBezTo>
                      <a:pt x="11523" y="535129"/>
                      <a:pt x="0" y="523607"/>
                      <a:pt x="0" y="509392"/>
                    </a:cubicBezTo>
                    <a:lnTo>
                      <a:pt x="0" y="25737"/>
                    </a:lnTo>
                    <a:cubicBezTo>
                      <a:pt x="0" y="11523"/>
                      <a:pt x="11523" y="0"/>
                      <a:pt x="25737" y="0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 l="0" t="-9887" r="0" b="-9887"/>
                </a:stretch>
              </a:blip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663136" y="7080010"/>
              <a:ext cx="9631875" cy="563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78"/>
                </a:lnSpc>
                <a:spcBef>
                  <a:spcPct val="0"/>
                </a:spcBef>
              </a:pPr>
              <a:r>
                <a:rPr lang="en-US" sz="2555">
                  <a:solidFill>
                    <a:srgbClr val="0762A4"/>
                  </a:solidFill>
                  <a:latin typeface="Open Sans"/>
                  <a:ea typeface="Open Sans"/>
                  <a:cs typeface="Open Sans"/>
                  <a:sym typeface="Open Sans"/>
                </a:rPr>
                <a:t>Equipe waterpolo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6229806"/>
              <a:ext cx="11117767" cy="605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20"/>
                </a:lnSpc>
                <a:spcBef>
                  <a:spcPct val="0"/>
                </a:spcBef>
              </a:pPr>
              <a:r>
                <a:rPr lang="en-US" b="true" sz="2657">
                  <a:solidFill>
                    <a:srgbClr val="0762A4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TNC (Tarbes Nautic Club)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69833" y="3349047"/>
            <a:ext cx="8372628" cy="5974797"/>
            <a:chOff x="0" y="0"/>
            <a:chExt cx="2084395" cy="14874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84395" cy="1487446"/>
            </a:xfrm>
            <a:custGeom>
              <a:avLst/>
              <a:gdLst/>
              <a:ahLst/>
              <a:cxnLst/>
              <a:rect r="r" b="b" t="t" l="l"/>
              <a:pathLst>
                <a:path h="1487446" w="2084395">
                  <a:moveTo>
                    <a:pt x="30514" y="0"/>
                  </a:moveTo>
                  <a:lnTo>
                    <a:pt x="2053881" y="0"/>
                  </a:lnTo>
                  <a:cubicBezTo>
                    <a:pt x="2070733" y="0"/>
                    <a:pt x="2084395" y="13662"/>
                    <a:pt x="2084395" y="30514"/>
                  </a:cubicBezTo>
                  <a:lnTo>
                    <a:pt x="2084395" y="1456932"/>
                  </a:lnTo>
                  <a:cubicBezTo>
                    <a:pt x="2084395" y="1473785"/>
                    <a:pt x="2070733" y="1487446"/>
                    <a:pt x="2053881" y="1487446"/>
                  </a:cubicBezTo>
                  <a:lnTo>
                    <a:pt x="30514" y="1487446"/>
                  </a:lnTo>
                  <a:cubicBezTo>
                    <a:pt x="13662" y="1487446"/>
                    <a:pt x="0" y="1473785"/>
                    <a:pt x="0" y="1456932"/>
                  </a:cubicBezTo>
                  <a:lnTo>
                    <a:pt x="0" y="30514"/>
                  </a:lnTo>
                  <a:cubicBezTo>
                    <a:pt x="0" y="13662"/>
                    <a:pt x="13662" y="0"/>
                    <a:pt x="30514" y="0"/>
                  </a:cubicBezTo>
                  <a:close/>
                </a:path>
              </a:pathLst>
            </a:custGeom>
            <a:solidFill>
              <a:srgbClr val="F7F9FF"/>
            </a:solidFill>
            <a:ln w="47625" cap="rnd">
              <a:solidFill>
                <a:srgbClr val="B5DEFF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2084395" cy="1554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964472" y="3832362"/>
            <a:ext cx="7583349" cy="4089152"/>
            <a:chOff x="0" y="0"/>
            <a:chExt cx="1110530" cy="5988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10530" cy="598829"/>
            </a:xfrm>
            <a:custGeom>
              <a:avLst/>
              <a:gdLst/>
              <a:ahLst/>
              <a:cxnLst/>
              <a:rect r="r" b="b" t="t" l="l"/>
              <a:pathLst>
                <a:path h="598829" w="1110530">
                  <a:moveTo>
                    <a:pt x="23481" y="0"/>
                  </a:moveTo>
                  <a:lnTo>
                    <a:pt x="1087049" y="0"/>
                  </a:lnTo>
                  <a:cubicBezTo>
                    <a:pt x="1093277" y="0"/>
                    <a:pt x="1099249" y="2474"/>
                    <a:pt x="1103653" y="6877"/>
                  </a:cubicBezTo>
                  <a:cubicBezTo>
                    <a:pt x="1108056" y="11281"/>
                    <a:pt x="1110530" y="17253"/>
                    <a:pt x="1110530" y="23481"/>
                  </a:cubicBezTo>
                  <a:lnTo>
                    <a:pt x="1110530" y="575348"/>
                  </a:lnTo>
                  <a:cubicBezTo>
                    <a:pt x="1110530" y="588316"/>
                    <a:pt x="1100017" y="598829"/>
                    <a:pt x="1087049" y="598829"/>
                  </a:cubicBezTo>
                  <a:lnTo>
                    <a:pt x="23481" y="598829"/>
                  </a:lnTo>
                  <a:cubicBezTo>
                    <a:pt x="17253" y="598829"/>
                    <a:pt x="11281" y="596355"/>
                    <a:pt x="6877" y="591951"/>
                  </a:cubicBezTo>
                  <a:cubicBezTo>
                    <a:pt x="2474" y="587548"/>
                    <a:pt x="0" y="581575"/>
                    <a:pt x="0" y="575348"/>
                  </a:cubicBezTo>
                  <a:lnTo>
                    <a:pt x="0" y="23481"/>
                  </a:lnTo>
                  <a:cubicBezTo>
                    <a:pt x="0" y="10513"/>
                    <a:pt x="10513" y="0"/>
                    <a:pt x="23481" y="0"/>
                  </a:cubicBezTo>
                  <a:close/>
                </a:path>
              </a:pathLst>
            </a:custGeom>
            <a:blipFill>
              <a:blip r:embed="rId11"/>
              <a:stretch>
                <a:fillRect l="0" t="-11778" r="0" b="-11778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538797" y="7933289"/>
            <a:ext cx="6434701" cy="455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54"/>
              </a:lnSpc>
              <a:spcBef>
                <a:spcPct val="0"/>
              </a:spcBef>
            </a:pPr>
            <a:r>
              <a:rPr lang="en-US" b="true" sz="2539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Paul Boyrie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85552" y="8648279"/>
            <a:ext cx="7341189" cy="383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1"/>
              </a:lnSpc>
              <a:spcBef>
                <a:spcPct val="0"/>
              </a:spcBef>
            </a:pPr>
            <a:r>
              <a:rPr lang="en-US" sz="2215">
                <a:solidFill>
                  <a:srgbClr val="0762A4"/>
                </a:solidFill>
                <a:latin typeface="Open Sans"/>
                <a:ea typeface="Open Sans"/>
                <a:cs typeface="Open Sans"/>
                <a:sym typeface="Open Sans"/>
              </a:rPr>
              <a:t>Piscine municipale de la ville de Tarbes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942461" y="9809337"/>
            <a:ext cx="18261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387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181346">
            <a:off x="13699659" y="22579"/>
            <a:ext cx="6924621" cy="4114800"/>
          </a:xfrm>
          <a:custGeom>
            <a:avLst/>
            <a:gdLst/>
            <a:ahLst/>
            <a:cxnLst/>
            <a:rect r="r" b="b" t="t" l="l"/>
            <a:pathLst>
              <a:path h="4114800" w="6924621">
                <a:moveTo>
                  <a:pt x="0" y="0"/>
                </a:moveTo>
                <a:lnTo>
                  <a:pt x="6924620" y="0"/>
                </a:lnTo>
                <a:lnTo>
                  <a:pt x="69246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99221" y="2474275"/>
            <a:ext cx="10235303" cy="6734707"/>
          </a:xfrm>
          <a:custGeom>
            <a:avLst/>
            <a:gdLst/>
            <a:ahLst/>
            <a:cxnLst/>
            <a:rect r="r" b="b" t="t" l="l"/>
            <a:pathLst>
              <a:path h="6734707" w="10235303">
                <a:moveTo>
                  <a:pt x="0" y="0"/>
                </a:moveTo>
                <a:lnTo>
                  <a:pt x="10235303" y="0"/>
                </a:lnTo>
                <a:lnTo>
                  <a:pt x="10235303" y="6734707"/>
                </a:lnTo>
                <a:lnTo>
                  <a:pt x="0" y="67347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84" t="-470" r="-371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356310" y="2333021"/>
            <a:ext cx="7712006" cy="92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1"/>
              </a:lnSpc>
              <a:spcBef>
                <a:spcPct val="0"/>
              </a:spcBef>
            </a:pPr>
            <a:r>
              <a:rPr lang="en-US" sz="5129" u="sng">
                <a:solidFill>
                  <a:srgbClr val="0762A4"/>
                </a:solidFill>
                <a:latin typeface="Poppins"/>
                <a:ea typeface="Poppins"/>
                <a:cs typeface="Poppins"/>
                <a:sym typeface="Poppins"/>
              </a:rPr>
              <a:t>Règle du waterpolo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65958" y="3827195"/>
            <a:ext cx="9702486" cy="42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Sport aquatique : 2 équipes = 7 joueurs,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65958" y="4461614"/>
            <a:ext cx="9702486" cy="42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Durée du match : 4 périodes de 8 minutes,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65958" y="5067458"/>
            <a:ext cx="8581567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Durée possession de balle : </a:t>
            </a:r>
            <a:r>
              <a:rPr lang="en-US" b="true" sz="2400" u="sng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28</a:t>
            </a:r>
            <a:r>
              <a:rPr lang="en-US" b="true" sz="240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secondes (modification de la règle),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165958" y="7179150"/>
            <a:ext cx="970248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Sport compétitif avec championnats régionaux,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42273" y="347957"/>
            <a:ext cx="8980708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1 - </a:t>
            </a:r>
            <a:r>
              <a:rPr lang="en-US" b="true" sz="4800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Présentation du projet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39599" y="1187537"/>
            <a:ext cx="6186056" cy="868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83B4E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et de l’entreprise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165958" y="7818278"/>
            <a:ext cx="970248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Bonnet blanc : l’équipe jouant à son domicile,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165958" y="8963237"/>
            <a:ext cx="970248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Bonnet rouge : gardien.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65958" y="8424122"/>
            <a:ext cx="970248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Bonnet bleu : pour l’équipe des visiteurs,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165958" y="6120923"/>
            <a:ext cx="893344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Si exclusion : 1</a:t>
            </a:r>
            <a:r>
              <a:rPr lang="en-US" b="true" sz="2400" u="sng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8</a:t>
            </a:r>
            <a:r>
              <a:rPr lang="en-US" b="true" sz="240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secondes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</a:t>
            </a:r>
            <a:r>
              <a:rPr lang="en-US" b="true" sz="240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(modification de la règle ),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933010" y="9809337"/>
            <a:ext cx="20151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387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165958" y="3397844"/>
            <a:ext cx="970248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Sport semblable au handball (1 but = 1 point),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197868">
            <a:off x="-1719168" y="-1028700"/>
            <a:ext cx="6924621" cy="4114800"/>
          </a:xfrm>
          <a:custGeom>
            <a:avLst/>
            <a:gdLst/>
            <a:ahLst/>
            <a:cxnLst/>
            <a:rect r="r" b="b" t="t" l="l"/>
            <a:pathLst>
              <a:path h="4114800" w="6924621">
                <a:moveTo>
                  <a:pt x="0" y="0"/>
                </a:moveTo>
                <a:lnTo>
                  <a:pt x="6924620" y="0"/>
                </a:lnTo>
                <a:lnTo>
                  <a:pt x="69246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98650" y="7550462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98650" y="7970573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5"/>
                </a:lnTo>
                <a:lnTo>
                  <a:pt x="0" y="2249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98650" y="8390685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98650" y="8810797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98650" y="9230908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98650" y="9651020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998650" y="10071131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645738" y="2053352"/>
            <a:ext cx="10996525" cy="8233648"/>
          </a:xfrm>
          <a:custGeom>
            <a:avLst/>
            <a:gdLst/>
            <a:ahLst/>
            <a:cxnLst/>
            <a:rect r="r" b="b" t="t" l="l"/>
            <a:pathLst>
              <a:path h="8233648" w="10996525">
                <a:moveTo>
                  <a:pt x="0" y="0"/>
                </a:moveTo>
                <a:lnTo>
                  <a:pt x="10996524" y="0"/>
                </a:lnTo>
                <a:lnTo>
                  <a:pt x="10996524" y="8233648"/>
                </a:lnTo>
                <a:lnTo>
                  <a:pt x="0" y="82336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342273" y="347957"/>
            <a:ext cx="8980708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1 - </a:t>
            </a:r>
            <a:r>
              <a:rPr lang="en-US" b="true" sz="4800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Présentation du projet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39599" y="1187537"/>
            <a:ext cx="6186056" cy="868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83B4E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et de l’entreprise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935541" y="9809337"/>
            <a:ext cx="19645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387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98650" y="7550462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98650" y="7970573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5"/>
                </a:lnTo>
                <a:lnTo>
                  <a:pt x="0" y="22498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98650" y="8390685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98650" y="8810797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98650" y="9230908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98650" y="9651020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98650" y="10071131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7739886" y="9699237"/>
            <a:ext cx="534915" cy="53491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938073" y="2089698"/>
            <a:ext cx="13336728" cy="5780225"/>
          </a:xfrm>
          <a:custGeom>
            <a:avLst/>
            <a:gdLst/>
            <a:ahLst/>
            <a:cxnLst/>
            <a:rect r="r" b="b" t="t" l="l"/>
            <a:pathLst>
              <a:path h="5780225" w="13336728">
                <a:moveTo>
                  <a:pt x="0" y="0"/>
                </a:moveTo>
                <a:lnTo>
                  <a:pt x="13336728" y="0"/>
                </a:lnTo>
                <a:lnTo>
                  <a:pt x="13336728" y="5780225"/>
                </a:lnTo>
                <a:lnTo>
                  <a:pt x="0" y="5780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66991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-202179" y="3626759"/>
            <a:ext cx="5140251" cy="293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Problème rencontré avec le système Omega Calypso 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Système non intuitif (saisie multitouche)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Interface vieillie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Remplissage feuille de match manuel = perte de temps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89145" y="160020"/>
            <a:ext cx="10033710" cy="171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2 - Problèmes rencontrés avec </a:t>
            </a:r>
            <a:r>
              <a:rPr lang="en-US" b="true" sz="4800">
                <a:solidFill>
                  <a:srgbClr val="83B4E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ce système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909712" y="9720949"/>
            <a:ext cx="19526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387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0" y="2403087"/>
            <a:ext cx="5140251" cy="92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1"/>
              </a:lnSpc>
              <a:spcBef>
                <a:spcPct val="0"/>
              </a:spcBef>
            </a:pPr>
            <a:r>
              <a:rPr lang="en-US" sz="5129" u="sng">
                <a:solidFill>
                  <a:srgbClr val="0762A4"/>
                </a:solidFill>
                <a:latin typeface="Poppins"/>
                <a:ea typeface="Poppins"/>
                <a:cs typeface="Poppins"/>
                <a:sym typeface="Poppins"/>
              </a:rPr>
              <a:t>Projet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98650" y="7550462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98650" y="7970573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5"/>
                </a:lnTo>
                <a:lnTo>
                  <a:pt x="0" y="22498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98650" y="8390685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98650" y="8810797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98650" y="9230908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98650" y="9651020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98650" y="10071131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7739886" y="9699237"/>
            <a:ext cx="534915" cy="53491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707982" y="1016914"/>
            <a:ext cx="9308473" cy="9338906"/>
          </a:xfrm>
          <a:custGeom>
            <a:avLst/>
            <a:gdLst/>
            <a:ahLst/>
            <a:cxnLst/>
            <a:rect r="r" b="b" t="t" l="l"/>
            <a:pathLst>
              <a:path h="9338906" w="9308473">
                <a:moveTo>
                  <a:pt x="0" y="0"/>
                </a:moveTo>
                <a:lnTo>
                  <a:pt x="9308473" y="0"/>
                </a:lnTo>
                <a:lnTo>
                  <a:pt x="9308473" y="9338906"/>
                </a:lnTo>
                <a:lnTo>
                  <a:pt x="0" y="9338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070" r="-6116" b="-107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289145" y="160020"/>
            <a:ext cx="1003371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3 - Les besoins de l’entreprise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923801" y="9720949"/>
            <a:ext cx="16708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387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98650" y="7550462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98650" y="7970573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5"/>
                </a:lnTo>
                <a:lnTo>
                  <a:pt x="0" y="22498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98650" y="8390685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98650" y="8810797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98650" y="9230908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98650" y="9651020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98650" y="10071131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7739886" y="9699237"/>
            <a:ext cx="534915" cy="53491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107696" y="955898"/>
            <a:ext cx="10549742" cy="9490844"/>
          </a:xfrm>
          <a:custGeom>
            <a:avLst/>
            <a:gdLst/>
            <a:ahLst/>
            <a:cxnLst/>
            <a:rect r="r" b="b" t="t" l="l"/>
            <a:pathLst>
              <a:path h="9490844" w="10549742">
                <a:moveTo>
                  <a:pt x="0" y="0"/>
                </a:moveTo>
                <a:lnTo>
                  <a:pt x="10549742" y="0"/>
                </a:lnTo>
                <a:lnTo>
                  <a:pt x="10549742" y="9490843"/>
                </a:lnTo>
                <a:lnTo>
                  <a:pt x="0" y="94908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089" r="0" b="-2984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289145" y="160020"/>
            <a:ext cx="1003371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3 - Les besoins de l’entreprise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909315" y="9720949"/>
            <a:ext cx="19605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387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0752" y="2620125"/>
            <a:ext cx="5656958" cy="565695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126068" y="-162501"/>
            <a:ext cx="4335517" cy="4114800"/>
          </a:xfrm>
          <a:custGeom>
            <a:avLst/>
            <a:gdLst/>
            <a:ahLst/>
            <a:cxnLst/>
            <a:rect r="r" b="b" t="t" l="l"/>
            <a:pathLst>
              <a:path h="4114800" w="4335517">
                <a:moveTo>
                  <a:pt x="0" y="0"/>
                </a:moveTo>
                <a:lnTo>
                  <a:pt x="4335517" y="0"/>
                </a:lnTo>
                <a:lnTo>
                  <a:pt x="43355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99135" y="2042319"/>
            <a:ext cx="13864944" cy="7833693"/>
          </a:xfrm>
          <a:custGeom>
            <a:avLst/>
            <a:gdLst/>
            <a:ahLst/>
            <a:cxnLst/>
            <a:rect r="r" b="b" t="t" l="l"/>
            <a:pathLst>
              <a:path h="7833693" w="13864944">
                <a:moveTo>
                  <a:pt x="0" y="0"/>
                </a:moveTo>
                <a:lnTo>
                  <a:pt x="13864943" y="0"/>
                </a:lnTo>
                <a:lnTo>
                  <a:pt x="13864943" y="7833693"/>
                </a:lnTo>
                <a:lnTo>
                  <a:pt x="0" y="78336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52707"/>
            <a:ext cx="16453141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4 - Visite du club de waterpolo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45285" y="1140437"/>
            <a:ext cx="9164524" cy="75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38"/>
              </a:lnSpc>
              <a:spcBef>
                <a:spcPct val="0"/>
              </a:spcBef>
            </a:pPr>
            <a:r>
              <a:rPr lang="en-US" b="true" sz="4170">
                <a:solidFill>
                  <a:srgbClr val="83B4E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Piscine municipale : Paul Boyrie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938319" y="9809337"/>
            <a:ext cx="19089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387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0803" y="7200900"/>
            <a:ext cx="4103110" cy="4114800"/>
          </a:xfrm>
          <a:custGeom>
            <a:avLst/>
            <a:gdLst/>
            <a:ahLst/>
            <a:cxnLst/>
            <a:rect r="r" b="b" t="t" l="l"/>
            <a:pathLst>
              <a:path h="4114800" w="4103110">
                <a:moveTo>
                  <a:pt x="0" y="0"/>
                </a:moveTo>
                <a:lnTo>
                  <a:pt x="4103110" y="0"/>
                </a:lnTo>
                <a:lnTo>
                  <a:pt x="41031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0752" y="2620125"/>
            <a:ext cx="5656958" cy="565695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126068" y="-162501"/>
            <a:ext cx="4335517" cy="4114800"/>
          </a:xfrm>
          <a:custGeom>
            <a:avLst/>
            <a:gdLst/>
            <a:ahLst/>
            <a:cxnLst/>
            <a:rect r="r" b="b" t="t" l="l"/>
            <a:pathLst>
              <a:path h="4114800" w="4335517">
                <a:moveTo>
                  <a:pt x="0" y="0"/>
                </a:moveTo>
                <a:lnTo>
                  <a:pt x="4335517" y="0"/>
                </a:lnTo>
                <a:lnTo>
                  <a:pt x="43355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27547" y="2618800"/>
            <a:ext cx="7960894" cy="5970671"/>
          </a:xfrm>
          <a:custGeom>
            <a:avLst/>
            <a:gdLst/>
            <a:ahLst/>
            <a:cxnLst/>
            <a:rect r="r" b="b" t="t" l="l"/>
            <a:pathLst>
              <a:path h="5970671" w="7960894">
                <a:moveTo>
                  <a:pt x="0" y="0"/>
                </a:moveTo>
                <a:lnTo>
                  <a:pt x="7960895" y="0"/>
                </a:lnTo>
                <a:lnTo>
                  <a:pt x="7960895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64838" y="2618800"/>
            <a:ext cx="7960894" cy="5970671"/>
          </a:xfrm>
          <a:custGeom>
            <a:avLst/>
            <a:gdLst/>
            <a:ahLst/>
            <a:cxnLst/>
            <a:rect r="r" b="b" t="t" l="l"/>
            <a:pathLst>
              <a:path h="5970671" w="7960894">
                <a:moveTo>
                  <a:pt x="0" y="0"/>
                </a:moveTo>
                <a:lnTo>
                  <a:pt x="7960894" y="0"/>
                </a:lnTo>
                <a:lnTo>
                  <a:pt x="7960894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45285" y="1140437"/>
            <a:ext cx="9164524" cy="75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38"/>
              </a:lnSpc>
              <a:spcBef>
                <a:spcPct val="0"/>
              </a:spcBef>
            </a:pPr>
            <a:r>
              <a:rPr lang="en-US" b="true" sz="4170">
                <a:solidFill>
                  <a:srgbClr val="83B4E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Piscine municipale : Paul Boyrie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759054" y="9809337"/>
            <a:ext cx="42840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387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52707"/>
            <a:ext cx="16453141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4 - Visite du club de waterpolo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2386" y="3143222"/>
            <a:ext cx="8797355" cy="472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8954" indent="-264477" lvl="1">
              <a:lnSpc>
                <a:spcPts val="3429"/>
              </a:lnSpc>
              <a:buFont typeface="Arial"/>
              <a:buChar char="•"/>
            </a:pPr>
            <a:r>
              <a:rPr lang="en-US" b="true" sz="2449" u="sng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PC Match</a:t>
            </a:r>
            <a:r>
              <a:rPr lang="en-US" b="true" sz="2449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: ordinateur central</a:t>
            </a:r>
          </a:p>
          <a:p>
            <a:pPr algn="just" marL="528954" indent="-264477" lvl="1">
              <a:lnSpc>
                <a:spcPts val="3429"/>
              </a:lnSpc>
              <a:buFont typeface="Arial"/>
              <a:buChar char="•"/>
            </a:pPr>
            <a:r>
              <a:rPr lang="en-US" b="true" sz="2449" u="sng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Affichage </a:t>
            </a:r>
            <a:r>
              <a:rPr lang="en-US" b="true" sz="2449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: grand écran piscine</a:t>
            </a:r>
          </a:p>
          <a:p>
            <a:pPr algn="just" marL="528954" indent="-264477" lvl="1">
              <a:lnSpc>
                <a:spcPts val="3429"/>
              </a:lnSpc>
              <a:buFont typeface="Arial"/>
              <a:buChar char="•"/>
            </a:pPr>
            <a:r>
              <a:rPr lang="en-US" b="true" sz="2449" u="sng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</a:t>
            </a:r>
            <a:r>
              <a:rPr lang="en-US" b="true" sz="2449" u="sng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hronos </a:t>
            </a:r>
            <a:r>
              <a:rPr lang="en-US" b="true" sz="2449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: Swiss Timing Calypso Shot Clocks, liaison RS422</a:t>
            </a:r>
          </a:p>
          <a:p>
            <a:pPr algn="just" marL="528954" indent="-264477" lvl="1">
              <a:lnSpc>
                <a:spcPts val="3429"/>
              </a:lnSpc>
              <a:buFont typeface="Arial"/>
              <a:buChar char="•"/>
            </a:pPr>
            <a:r>
              <a:rPr lang="en-US" b="true" sz="2449" u="sng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Déve</a:t>
            </a:r>
            <a:r>
              <a:rPr lang="en-US" b="true" sz="2449" u="sng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loppement</a:t>
            </a:r>
            <a:r>
              <a:rPr lang="en-US" b="true" sz="2449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: afficheurs Modbus</a:t>
            </a:r>
          </a:p>
          <a:p>
            <a:pPr algn="just" marL="528954" indent="-264477" lvl="1">
              <a:lnSpc>
                <a:spcPts val="3429"/>
              </a:lnSpc>
              <a:buFont typeface="Arial"/>
              <a:buChar char="•"/>
            </a:pPr>
            <a:r>
              <a:rPr lang="en-US" b="true" sz="2449" u="sng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Audio</a:t>
            </a:r>
            <a:r>
              <a:rPr lang="en-US" b="true" sz="2449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: haut-parleurs / enceintes pour alertes sonores</a:t>
            </a:r>
          </a:p>
          <a:p>
            <a:pPr algn="just" marL="528954" indent="-264477" lvl="1">
              <a:lnSpc>
                <a:spcPts val="3429"/>
              </a:lnSpc>
              <a:buFont typeface="Arial"/>
              <a:buChar char="•"/>
            </a:pPr>
            <a:r>
              <a:rPr lang="en-US" b="true" sz="2449" u="sng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Commande</a:t>
            </a:r>
            <a:r>
              <a:rPr lang="en-US" b="true" sz="2449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: pilotage obligatoire avec la barre espace</a:t>
            </a:r>
          </a:p>
          <a:p>
            <a:pPr algn="just">
              <a:lnSpc>
                <a:spcPts val="3429"/>
              </a:lnSpc>
              <a:spcBef>
                <a:spcPct val="0"/>
              </a:spcBef>
            </a:pPr>
          </a:p>
          <a:p>
            <a:pPr algn="just">
              <a:lnSpc>
                <a:spcPts val="342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7935764" y="9809337"/>
            <a:ext cx="19600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387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8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998650" y="7678973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98650" y="8102720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98650" y="8526467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98650" y="8950214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5"/>
                </a:lnTo>
                <a:lnTo>
                  <a:pt x="0" y="2249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98650" y="9373961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5"/>
                </a:lnTo>
                <a:lnTo>
                  <a:pt x="0" y="22498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998650" y="9797709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998650" y="10221456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753085" y="9752085"/>
            <a:ext cx="534915" cy="53491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936210" y="160020"/>
            <a:ext cx="13199139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5 - Contraintes matérielles et logicielles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753085" y="9809337"/>
            <a:ext cx="44231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387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82199" y="2021637"/>
            <a:ext cx="5236965" cy="160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Contra</a:t>
            </a:r>
            <a:r>
              <a:rPr lang="en-US" b="true" sz="3000" strike="noStrike" u="none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</a:t>
            </a:r>
            <a:r>
              <a:rPr lang="en-US" b="true" sz="3000" strike="noStrike" u="none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</a:t>
            </a:r>
            <a:r>
              <a:rPr lang="en-US" b="true" sz="3000" strike="noStrike" u="none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es Matérielles</a:t>
            </a: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846384" y="1911024"/>
            <a:ext cx="5236965" cy="21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Contra</a:t>
            </a:r>
            <a:r>
              <a:rPr lang="en-US" b="true" sz="3000" strike="noStrike" u="none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intes Logicielles</a:t>
            </a: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041191" y="3143222"/>
            <a:ext cx="8979351" cy="296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8956" indent="-264478" lvl="1">
              <a:lnSpc>
                <a:spcPts val="3430"/>
              </a:lnSpc>
              <a:buFont typeface="Arial"/>
              <a:buChar char="•"/>
            </a:pPr>
            <a:r>
              <a:rPr lang="en-US" b="true" sz="2450" spc="12" u="sng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Logiciel PC</a:t>
            </a:r>
            <a:r>
              <a:rPr lang="en-US" b="true" sz="2450" spc="12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: Python / Django</a:t>
            </a:r>
          </a:p>
          <a:p>
            <a:pPr algn="just" marL="528956" indent="-264478" lvl="1">
              <a:lnSpc>
                <a:spcPts val="3430"/>
              </a:lnSpc>
              <a:buFont typeface="Arial"/>
              <a:buChar char="•"/>
            </a:pPr>
            <a:r>
              <a:rPr lang="en-US" b="true" sz="2450" spc="12" u="sng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Site ligue</a:t>
            </a:r>
            <a:r>
              <a:rPr lang="en-US" b="true" sz="2450" spc="12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: PHP / MySQL</a:t>
            </a:r>
          </a:p>
          <a:p>
            <a:pPr algn="just" marL="528956" indent="-264478" lvl="1">
              <a:lnSpc>
                <a:spcPts val="3430"/>
              </a:lnSpc>
              <a:buFont typeface="Arial"/>
              <a:buChar char="•"/>
            </a:pPr>
            <a:r>
              <a:rPr lang="en-US" b="true" sz="2450" spc="12" u="sng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Base de données</a:t>
            </a:r>
            <a:r>
              <a:rPr lang="en-US" b="true" sz="2450" spc="12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: MySQL local + serveur</a:t>
            </a:r>
          </a:p>
          <a:p>
            <a:pPr algn="just" marL="528956" indent="-264478" lvl="1">
              <a:lnSpc>
                <a:spcPts val="3430"/>
              </a:lnSpc>
              <a:buFont typeface="Arial"/>
              <a:buChar char="•"/>
            </a:pPr>
            <a:r>
              <a:rPr lang="en-US" b="true" sz="2450" spc="12" u="sng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Excel</a:t>
            </a:r>
            <a:r>
              <a:rPr lang="en-US" b="true" sz="2450" spc="12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: import compositions, export données match</a:t>
            </a:r>
          </a:p>
          <a:p>
            <a:pPr algn="just" marL="528956" indent="-264478" lvl="1">
              <a:lnSpc>
                <a:spcPts val="3062"/>
              </a:lnSpc>
              <a:buFont typeface="Arial"/>
              <a:buChar char="•"/>
            </a:pPr>
            <a:r>
              <a:rPr lang="en-US" b="true" sz="2450" spc="12" u="sng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Réseau</a:t>
            </a:r>
            <a:r>
              <a:rPr lang="en-US" b="true" sz="2450" spc="12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: communication avec afficheurs via Modbus</a:t>
            </a:r>
          </a:p>
          <a:p>
            <a:pPr algn="just">
              <a:lnSpc>
                <a:spcPts val="3430"/>
              </a:lnSpc>
            </a:pPr>
          </a:p>
          <a:p>
            <a:pPr algn="just">
              <a:lnSpc>
                <a:spcPts val="3430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6525518" y="1149025"/>
            <a:ext cx="5236965" cy="54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762A4"/>
                </a:solidFill>
                <a:latin typeface="Poppins Bold"/>
                <a:ea typeface="Poppins Bold"/>
                <a:cs typeface="Poppins Bold"/>
                <a:sym typeface="Poppins Bold"/>
              </a:rPr>
              <a:t>Etudiant 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1289" y="3143222"/>
            <a:ext cx="8028452" cy="430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8956" indent="-264478" lvl="1">
              <a:lnSpc>
                <a:spcPts val="3430"/>
              </a:lnSpc>
              <a:buFont typeface="Arial"/>
              <a:buChar char="•"/>
            </a:pPr>
            <a:r>
              <a:rPr lang="en-US" b="true" sz="2450" u="sng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Affichage</a:t>
            </a:r>
            <a:r>
              <a:rPr lang="en-US" b="true" sz="245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: Utilisation de 2 afficheurs</a:t>
            </a:r>
          </a:p>
          <a:p>
            <a:pPr algn="just" marL="528956" indent="-264478" lvl="1">
              <a:lnSpc>
                <a:spcPts val="3430"/>
              </a:lnSpc>
              <a:buFont typeface="Arial"/>
              <a:buChar char="•"/>
            </a:pPr>
            <a:r>
              <a:rPr lang="en-US" b="true" sz="245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Carte utilisé : Arduino</a:t>
            </a:r>
          </a:p>
          <a:p>
            <a:pPr algn="just" marL="528956" indent="-264478" lvl="1">
              <a:lnSpc>
                <a:spcPts val="3430"/>
              </a:lnSpc>
              <a:buFont typeface="Arial"/>
              <a:buChar char="•"/>
            </a:pPr>
            <a:r>
              <a:rPr lang="en-US" b="true" sz="2450" u="sng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Communication</a:t>
            </a:r>
            <a:r>
              <a:rPr lang="en-US" b="true" sz="245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b="true" sz="245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: Modbus RTU</a:t>
            </a:r>
          </a:p>
          <a:p>
            <a:pPr algn="just" marL="528956" indent="-264478" lvl="1">
              <a:lnSpc>
                <a:spcPts val="3430"/>
              </a:lnSpc>
              <a:buFont typeface="Arial"/>
              <a:buChar char="•"/>
            </a:pPr>
            <a:r>
              <a:rPr lang="en-US" b="true" sz="2450" u="sng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</a:t>
            </a:r>
            <a:r>
              <a:rPr lang="en-US" b="true" sz="2450" u="sng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hronos </a:t>
            </a:r>
            <a:r>
              <a:rPr lang="en-US" b="true" sz="245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: Swiss Timing Calypso Shot Clocks, liaison RS422</a:t>
            </a:r>
          </a:p>
          <a:p>
            <a:pPr algn="just" marL="528956" indent="-264478" lvl="1">
              <a:lnSpc>
                <a:spcPts val="3430"/>
              </a:lnSpc>
              <a:buFont typeface="Arial"/>
              <a:buChar char="•"/>
            </a:pPr>
            <a:r>
              <a:rPr lang="en-US" b="true" sz="2450" u="sng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Audio</a:t>
            </a:r>
            <a:r>
              <a:rPr lang="en-US" b="true" sz="245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: haut-parleurs / enceintes pour alertes sonores</a:t>
            </a:r>
          </a:p>
          <a:p>
            <a:pPr algn="just">
              <a:lnSpc>
                <a:spcPts val="3430"/>
              </a:lnSpc>
            </a:pPr>
          </a:p>
          <a:p>
            <a:pPr algn="just">
              <a:lnSpc>
                <a:spcPts val="3430"/>
              </a:lnSpc>
              <a:spcBef>
                <a:spcPct val="0"/>
              </a:spcBef>
            </a:pPr>
          </a:p>
          <a:p>
            <a:pPr algn="just">
              <a:lnSpc>
                <a:spcPts val="343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7935764" y="9809337"/>
            <a:ext cx="19600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387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8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998650" y="7678973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98650" y="8102720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98650" y="8526467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98650" y="8950214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5"/>
                </a:lnTo>
                <a:lnTo>
                  <a:pt x="0" y="2249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98650" y="9373961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5"/>
                </a:lnTo>
                <a:lnTo>
                  <a:pt x="0" y="22498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998650" y="9797709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998650" y="10221456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753085" y="9752085"/>
            <a:ext cx="534915" cy="53491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936210" y="160020"/>
            <a:ext cx="13199139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5 - Contraintes matérielles et logicielles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761972" y="9773797"/>
            <a:ext cx="54359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387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82199" y="2021637"/>
            <a:ext cx="5236965" cy="160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Contra</a:t>
            </a:r>
            <a:r>
              <a:rPr lang="en-US" b="true" sz="3000" strike="noStrike" u="none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</a:t>
            </a:r>
            <a:r>
              <a:rPr lang="en-US" b="true" sz="3000" strike="noStrike" u="none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</a:t>
            </a:r>
            <a:r>
              <a:rPr lang="en-US" b="true" sz="3000" strike="noStrike" u="none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es Matérielles</a:t>
            </a: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308501" y="2021637"/>
            <a:ext cx="5236965" cy="21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Contra</a:t>
            </a:r>
            <a:r>
              <a:rPr lang="en-US" b="true" sz="3000" strike="noStrike" u="none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intes Logicielles</a:t>
            </a: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522098" y="3143222"/>
            <a:ext cx="7885535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8956" indent="-264478" lvl="1">
              <a:lnSpc>
                <a:spcPts val="3430"/>
              </a:lnSpc>
              <a:buFont typeface="Arial"/>
              <a:buChar char="•"/>
            </a:pPr>
            <a:r>
              <a:rPr lang="en-US" b="true" sz="2450" spc="12" u="sng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Logiciel PC</a:t>
            </a:r>
            <a:r>
              <a:rPr lang="en-US" b="true" sz="2450" spc="12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: Utilisation de Arduino IDE</a:t>
            </a:r>
          </a:p>
          <a:p>
            <a:pPr algn="just">
              <a:lnSpc>
                <a:spcPts val="3149"/>
              </a:lnSpc>
            </a:pPr>
          </a:p>
          <a:p>
            <a:pPr algn="just">
              <a:lnSpc>
                <a:spcPts val="3149"/>
              </a:lnSpc>
            </a:pPr>
          </a:p>
          <a:p>
            <a:pPr algn="just">
              <a:lnSpc>
                <a:spcPts val="314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6525518" y="1149025"/>
            <a:ext cx="5236965" cy="54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762A4"/>
                </a:solidFill>
                <a:latin typeface="Poppins Bold"/>
                <a:ea typeface="Poppins Bold"/>
                <a:cs typeface="Poppins Bold"/>
                <a:sym typeface="Poppins Bold"/>
              </a:rPr>
              <a:t>Etudiant 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98650" y="7678973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98650" y="8102720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98650" y="8526467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98650" y="8950214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5"/>
                </a:lnTo>
                <a:lnTo>
                  <a:pt x="0" y="2249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98650" y="9373961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5"/>
                </a:lnTo>
                <a:lnTo>
                  <a:pt x="0" y="22498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98650" y="9797709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98650" y="10221456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7753085" y="9752085"/>
            <a:ext cx="534915" cy="53491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3519443" y="400872"/>
            <a:ext cx="975109" cy="0"/>
          </a:xfrm>
          <a:prstGeom prst="line">
            <a:avLst/>
          </a:prstGeom>
          <a:ln cap="flat" w="457200">
            <a:solidFill>
              <a:srgbClr val="00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3519443" y="1065025"/>
            <a:ext cx="975109" cy="0"/>
          </a:xfrm>
          <a:prstGeom prst="line">
            <a:avLst/>
          </a:prstGeom>
          <a:ln cap="flat" w="457200">
            <a:solidFill>
              <a:srgbClr val="FB4E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450376" y="1839231"/>
            <a:ext cx="14275176" cy="8447769"/>
          </a:xfrm>
          <a:custGeom>
            <a:avLst/>
            <a:gdLst/>
            <a:ahLst/>
            <a:cxnLst/>
            <a:rect r="r" b="b" t="t" l="l"/>
            <a:pathLst>
              <a:path h="8447769" w="14275176">
                <a:moveTo>
                  <a:pt x="0" y="0"/>
                </a:moveTo>
                <a:lnTo>
                  <a:pt x="14275177" y="0"/>
                </a:lnTo>
                <a:lnTo>
                  <a:pt x="14275177" y="8447769"/>
                </a:lnTo>
                <a:lnTo>
                  <a:pt x="0" y="84477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89" t="0" r="-4159" b="0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13519443" y="1835258"/>
            <a:ext cx="975109" cy="0"/>
          </a:xfrm>
          <a:prstGeom prst="line">
            <a:avLst/>
          </a:prstGeom>
          <a:ln cap="flat" w="457200">
            <a:solidFill>
              <a:srgbClr val="05FF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788268" y="4544872"/>
            <a:ext cx="13809870" cy="5566398"/>
            <a:chOff x="0" y="0"/>
            <a:chExt cx="2372248" cy="9561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72248" cy="956191"/>
            </a:xfrm>
            <a:custGeom>
              <a:avLst/>
              <a:gdLst/>
              <a:ahLst/>
              <a:cxnLst/>
              <a:rect r="r" b="b" t="t" l="l"/>
              <a:pathLst>
                <a:path h="956191" w="2372248">
                  <a:moveTo>
                    <a:pt x="28591" y="0"/>
                  </a:moveTo>
                  <a:lnTo>
                    <a:pt x="2343657" y="0"/>
                  </a:lnTo>
                  <a:cubicBezTo>
                    <a:pt x="2359447" y="0"/>
                    <a:pt x="2372248" y="12801"/>
                    <a:pt x="2372248" y="28591"/>
                  </a:cubicBezTo>
                  <a:lnTo>
                    <a:pt x="2372248" y="927600"/>
                  </a:lnTo>
                  <a:cubicBezTo>
                    <a:pt x="2372248" y="935183"/>
                    <a:pt x="2369236" y="942455"/>
                    <a:pt x="2363874" y="947817"/>
                  </a:cubicBezTo>
                  <a:cubicBezTo>
                    <a:pt x="2358512" y="953179"/>
                    <a:pt x="2351240" y="956191"/>
                    <a:pt x="2343657" y="956191"/>
                  </a:cubicBezTo>
                  <a:lnTo>
                    <a:pt x="28591" y="956191"/>
                  </a:lnTo>
                  <a:cubicBezTo>
                    <a:pt x="21008" y="956191"/>
                    <a:pt x="13736" y="953179"/>
                    <a:pt x="8374" y="947817"/>
                  </a:cubicBezTo>
                  <a:cubicBezTo>
                    <a:pt x="3012" y="942455"/>
                    <a:pt x="0" y="935183"/>
                    <a:pt x="0" y="927600"/>
                  </a:cubicBezTo>
                  <a:lnTo>
                    <a:pt x="0" y="28591"/>
                  </a:lnTo>
                  <a:cubicBezTo>
                    <a:pt x="0" y="21008"/>
                    <a:pt x="3012" y="13736"/>
                    <a:pt x="8374" y="8374"/>
                  </a:cubicBezTo>
                  <a:cubicBezTo>
                    <a:pt x="13736" y="3012"/>
                    <a:pt x="21008" y="0"/>
                    <a:pt x="28591" y="0"/>
                  </a:cubicBezTo>
                  <a:close/>
                </a:path>
              </a:pathLst>
            </a:custGeom>
            <a:ln w="19050" cap="rnd">
              <a:solidFill>
                <a:srgbClr val="008DFF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2372248" cy="1022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632562" y="160020"/>
            <a:ext cx="7022877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6 - La feuille de route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57849" y="31172"/>
            <a:ext cx="3486349" cy="634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  <a:spcBef>
                <a:spcPct val="0"/>
              </a:spcBef>
            </a:pPr>
            <a:r>
              <a:rPr lang="en-US" b="true" sz="3514">
                <a:solidFill>
                  <a:srgbClr val="008D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Lise Wisniowski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00215" y="659000"/>
            <a:ext cx="3401616" cy="634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  <a:spcBef>
                <a:spcPct val="0"/>
              </a:spcBef>
            </a:pPr>
            <a:r>
              <a:rPr lang="en-US" b="true" sz="3514">
                <a:solidFill>
                  <a:srgbClr val="FB4E3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Kemel Belfquih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700215" y="1441346"/>
            <a:ext cx="3511947" cy="125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3514" b="true">
                <a:solidFill>
                  <a:srgbClr val="05FF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Honoré </a:t>
            </a:r>
          </a:p>
          <a:p>
            <a:pPr algn="l">
              <a:lnSpc>
                <a:spcPts val="4920"/>
              </a:lnSpc>
            </a:pPr>
            <a:r>
              <a:rPr lang="en-US" b="true" sz="3514">
                <a:solidFill>
                  <a:srgbClr val="05FF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Mitchozounnou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756842" y="9865525"/>
            <a:ext cx="52740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387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53085" y="9752085"/>
            <a:ext cx="534915" cy="53491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3519443" y="400872"/>
            <a:ext cx="975109" cy="0"/>
          </a:xfrm>
          <a:prstGeom prst="line">
            <a:avLst/>
          </a:prstGeom>
          <a:ln cap="flat" w="457200">
            <a:solidFill>
              <a:srgbClr val="00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3519443" y="1065025"/>
            <a:ext cx="975109" cy="0"/>
          </a:xfrm>
          <a:prstGeom prst="line">
            <a:avLst/>
          </a:prstGeom>
          <a:ln cap="flat" w="457200">
            <a:solidFill>
              <a:srgbClr val="FB4E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3519443" y="1835258"/>
            <a:ext cx="975109" cy="0"/>
          </a:xfrm>
          <a:prstGeom prst="line">
            <a:avLst/>
          </a:prstGeom>
          <a:ln cap="flat" w="457200">
            <a:solidFill>
              <a:srgbClr val="05FF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61159" y="2952272"/>
            <a:ext cx="15512642" cy="6651045"/>
          </a:xfrm>
          <a:custGeom>
            <a:avLst/>
            <a:gdLst/>
            <a:ahLst/>
            <a:cxnLst/>
            <a:rect r="r" b="b" t="t" l="l"/>
            <a:pathLst>
              <a:path h="6651045" w="15512642">
                <a:moveTo>
                  <a:pt x="0" y="0"/>
                </a:moveTo>
                <a:lnTo>
                  <a:pt x="15512642" y="0"/>
                </a:lnTo>
                <a:lnTo>
                  <a:pt x="15512642" y="6651045"/>
                </a:lnTo>
                <a:lnTo>
                  <a:pt x="0" y="66510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632562" y="160020"/>
            <a:ext cx="7022877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6 - La feuille de route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57849" y="31172"/>
            <a:ext cx="3486349" cy="634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  <a:spcBef>
                <a:spcPct val="0"/>
              </a:spcBef>
            </a:pPr>
            <a:r>
              <a:rPr lang="en-US" b="true" sz="3514">
                <a:solidFill>
                  <a:srgbClr val="008D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Lise Wisniowski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00215" y="659000"/>
            <a:ext cx="3401616" cy="634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  <a:spcBef>
                <a:spcPct val="0"/>
              </a:spcBef>
            </a:pPr>
            <a:r>
              <a:rPr lang="en-US" b="true" sz="3514">
                <a:solidFill>
                  <a:srgbClr val="FB4E3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Kemel Belfquih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700215" y="1441346"/>
            <a:ext cx="3511947" cy="125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3514" b="true">
                <a:solidFill>
                  <a:srgbClr val="05FF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Honoré </a:t>
            </a:r>
          </a:p>
          <a:p>
            <a:pPr algn="l">
              <a:lnSpc>
                <a:spcPts val="4920"/>
              </a:lnSpc>
            </a:pPr>
            <a:r>
              <a:rPr lang="en-US" b="true" sz="3514">
                <a:solidFill>
                  <a:srgbClr val="05FF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Mitchozounnou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822088" y="9773797"/>
            <a:ext cx="39690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387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14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77397" y="3044933"/>
            <a:ext cx="15078792" cy="6558384"/>
            <a:chOff x="0" y="0"/>
            <a:chExt cx="2727011" cy="118608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27011" cy="1186089"/>
            </a:xfrm>
            <a:custGeom>
              <a:avLst/>
              <a:gdLst/>
              <a:ahLst/>
              <a:cxnLst/>
              <a:rect r="r" b="b" t="t" l="l"/>
              <a:pathLst>
                <a:path h="1186089" w="2727011">
                  <a:moveTo>
                    <a:pt x="26185" y="0"/>
                  </a:moveTo>
                  <a:lnTo>
                    <a:pt x="2700826" y="0"/>
                  </a:lnTo>
                  <a:cubicBezTo>
                    <a:pt x="2707771" y="0"/>
                    <a:pt x="2714431" y="2759"/>
                    <a:pt x="2719342" y="7669"/>
                  </a:cubicBezTo>
                  <a:cubicBezTo>
                    <a:pt x="2724253" y="12580"/>
                    <a:pt x="2727011" y="19240"/>
                    <a:pt x="2727011" y="26185"/>
                  </a:cubicBezTo>
                  <a:lnTo>
                    <a:pt x="2727011" y="1159904"/>
                  </a:lnTo>
                  <a:cubicBezTo>
                    <a:pt x="2727011" y="1166849"/>
                    <a:pt x="2724253" y="1173509"/>
                    <a:pt x="2719342" y="1178420"/>
                  </a:cubicBezTo>
                  <a:cubicBezTo>
                    <a:pt x="2714431" y="1183330"/>
                    <a:pt x="2707771" y="1186089"/>
                    <a:pt x="2700826" y="1186089"/>
                  </a:cubicBezTo>
                  <a:lnTo>
                    <a:pt x="26185" y="1186089"/>
                  </a:lnTo>
                  <a:cubicBezTo>
                    <a:pt x="19240" y="1186089"/>
                    <a:pt x="12580" y="1183330"/>
                    <a:pt x="7669" y="1178420"/>
                  </a:cubicBezTo>
                  <a:cubicBezTo>
                    <a:pt x="2759" y="1173509"/>
                    <a:pt x="0" y="1166849"/>
                    <a:pt x="0" y="1159904"/>
                  </a:cubicBezTo>
                  <a:lnTo>
                    <a:pt x="0" y="26185"/>
                  </a:lnTo>
                  <a:cubicBezTo>
                    <a:pt x="0" y="19240"/>
                    <a:pt x="2759" y="12580"/>
                    <a:pt x="7669" y="7669"/>
                  </a:cubicBezTo>
                  <a:cubicBezTo>
                    <a:pt x="12580" y="2759"/>
                    <a:pt x="19240" y="0"/>
                    <a:pt x="26185" y="0"/>
                  </a:cubicBezTo>
                  <a:close/>
                </a:path>
              </a:pathLst>
            </a:custGeom>
            <a:ln w="19050" cap="rnd">
              <a:solidFill>
                <a:srgbClr val="FB4E35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727011" cy="1252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98650" y="6650273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98650" y="7074020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98650" y="7497767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98650" y="7921514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5"/>
                </a:lnTo>
                <a:lnTo>
                  <a:pt x="0" y="2249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98650" y="8345261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5"/>
                </a:lnTo>
                <a:lnTo>
                  <a:pt x="0" y="22498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98650" y="8769009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98650" y="9192756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998650" y="9616503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753085" y="9752085"/>
            <a:ext cx="534915" cy="53491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1365" y="1865567"/>
            <a:ext cx="17926246" cy="6903442"/>
          </a:xfrm>
          <a:custGeom>
            <a:avLst/>
            <a:gdLst/>
            <a:ahLst/>
            <a:cxnLst/>
            <a:rect r="r" b="b" t="t" l="l"/>
            <a:pathLst>
              <a:path h="6903442" w="17926246">
                <a:moveTo>
                  <a:pt x="0" y="0"/>
                </a:moveTo>
                <a:lnTo>
                  <a:pt x="17926245" y="0"/>
                </a:lnTo>
                <a:lnTo>
                  <a:pt x="17926245" y="6903442"/>
                </a:lnTo>
                <a:lnTo>
                  <a:pt x="0" y="69034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8098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61103" y="2037292"/>
            <a:ext cx="17526770" cy="6432039"/>
            <a:chOff x="0" y="0"/>
            <a:chExt cx="2316846" cy="85024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16846" cy="850245"/>
            </a:xfrm>
            <a:custGeom>
              <a:avLst/>
              <a:gdLst/>
              <a:ahLst/>
              <a:cxnLst/>
              <a:rect r="r" b="b" t="t" l="l"/>
              <a:pathLst>
                <a:path h="850245" w="2316846">
                  <a:moveTo>
                    <a:pt x="22528" y="0"/>
                  </a:moveTo>
                  <a:lnTo>
                    <a:pt x="2294318" y="0"/>
                  </a:lnTo>
                  <a:cubicBezTo>
                    <a:pt x="2306760" y="0"/>
                    <a:pt x="2316846" y="10086"/>
                    <a:pt x="2316846" y="22528"/>
                  </a:cubicBezTo>
                  <a:lnTo>
                    <a:pt x="2316846" y="827717"/>
                  </a:lnTo>
                  <a:cubicBezTo>
                    <a:pt x="2316846" y="840159"/>
                    <a:pt x="2306760" y="850245"/>
                    <a:pt x="2294318" y="850245"/>
                  </a:cubicBezTo>
                  <a:lnTo>
                    <a:pt x="22528" y="850245"/>
                  </a:lnTo>
                  <a:cubicBezTo>
                    <a:pt x="10086" y="850245"/>
                    <a:pt x="0" y="840159"/>
                    <a:pt x="0" y="827717"/>
                  </a:cubicBezTo>
                  <a:lnTo>
                    <a:pt x="0" y="22528"/>
                  </a:lnTo>
                  <a:cubicBezTo>
                    <a:pt x="0" y="10086"/>
                    <a:pt x="10086" y="0"/>
                    <a:pt x="22528" y="0"/>
                  </a:cubicBezTo>
                  <a:close/>
                </a:path>
              </a:pathLst>
            </a:custGeom>
            <a:ln w="19050" cap="rnd">
              <a:solidFill>
                <a:srgbClr val="05FF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316846" cy="916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632562" y="160020"/>
            <a:ext cx="7022877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6 - La feuille de route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820153" y="9773797"/>
            <a:ext cx="46784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387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98650" y="6650273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98650" y="7074020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98650" y="7497767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98650" y="7921514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5"/>
                </a:lnTo>
                <a:lnTo>
                  <a:pt x="0" y="2249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98650" y="8345261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5"/>
                </a:lnTo>
                <a:lnTo>
                  <a:pt x="0" y="22498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98650" y="8769009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98650" y="9192756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998650" y="9616503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753085" y="9752085"/>
            <a:ext cx="534915" cy="53491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38940" y="1292447"/>
            <a:ext cx="17810121" cy="8727095"/>
          </a:xfrm>
          <a:custGeom>
            <a:avLst/>
            <a:gdLst/>
            <a:ahLst/>
            <a:cxnLst/>
            <a:rect r="r" b="b" t="t" l="l"/>
            <a:pathLst>
              <a:path h="8727095" w="17810121">
                <a:moveTo>
                  <a:pt x="0" y="0"/>
                </a:moveTo>
                <a:lnTo>
                  <a:pt x="17810120" y="0"/>
                </a:lnTo>
                <a:lnTo>
                  <a:pt x="17810120" y="8727095"/>
                </a:lnTo>
                <a:lnTo>
                  <a:pt x="0" y="87270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520" t="0" r="-6215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38940" y="5785010"/>
            <a:ext cx="17210473" cy="3785618"/>
            <a:chOff x="0" y="0"/>
            <a:chExt cx="2924691" cy="6433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24691" cy="643316"/>
            </a:xfrm>
            <a:custGeom>
              <a:avLst/>
              <a:gdLst/>
              <a:ahLst/>
              <a:cxnLst/>
              <a:rect r="r" b="b" t="t" l="l"/>
              <a:pathLst>
                <a:path h="643316" w="2924691">
                  <a:moveTo>
                    <a:pt x="22942" y="0"/>
                  </a:moveTo>
                  <a:lnTo>
                    <a:pt x="2901750" y="0"/>
                  </a:lnTo>
                  <a:cubicBezTo>
                    <a:pt x="2914420" y="0"/>
                    <a:pt x="2924691" y="10271"/>
                    <a:pt x="2924691" y="22942"/>
                  </a:cubicBezTo>
                  <a:lnTo>
                    <a:pt x="2924691" y="620374"/>
                  </a:lnTo>
                  <a:cubicBezTo>
                    <a:pt x="2924691" y="633044"/>
                    <a:pt x="2914420" y="643316"/>
                    <a:pt x="2901750" y="643316"/>
                  </a:cubicBezTo>
                  <a:lnTo>
                    <a:pt x="22942" y="643316"/>
                  </a:lnTo>
                  <a:cubicBezTo>
                    <a:pt x="10271" y="643316"/>
                    <a:pt x="0" y="633044"/>
                    <a:pt x="0" y="620374"/>
                  </a:cubicBezTo>
                  <a:lnTo>
                    <a:pt x="0" y="22942"/>
                  </a:lnTo>
                  <a:cubicBezTo>
                    <a:pt x="0" y="10271"/>
                    <a:pt x="10271" y="0"/>
                    <a:pt x="22942" y="0"/>
                  </a:cubicBezTo>
                  <a:close/>
                </a:path>
              </a:pathLst>
            </a:custGeom>
            <a:ln w="19050" cap="rnd">
              <a:solidFill>
                <a:srgbClr val="008D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924691" cy="709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38940" y="1443500"/>
            <a:ext cx="17363503" cy="3475717"/>
            <a:chOff x="0" y="0"/>
            <a:chExt cx="2950697" cy="5906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50697" cy="590652"/>
            </a:xfrm>
            <a:custGeom>
              <a:avLst/>
              <a:gdLst/>
              <a:ahLst/>
              <a:cxnLst/>
              <a:rect r="r" b="b" t="t" l="l"/>
              <a:pathLst>
                <a:path h="590652" w="2950697">
                  <a:moveTo>
                    <a:pt x="22740" y="0"/>
                  </a:moveTo>
                  <a:lnTo>
                    <a:pt x="2927957" y="0"/>
                  </a:lnTo>
                  <a:cubicBezTo>
                    <a:pt x="2940516" y="0"/>
                    <a:pt x="2950697" y="10181"/>
                    <a:pt x="2950697" y="22740"/>
                  </a:cubicBezTo>
                  <a:lnTo>
                    <a:pt x="2950697" y="567912"/>
                  </a:lnTo>
                  <a:cubicBezTo>
                    <a:pt x="2950697" y="580471"/>
                    <a:pt x="2940516" y="590652"/>
                    <a:pt x="2927957" y="590652"/>
                  </a:cubicBezTo>
                  <a:lnTo>
                    <a:pt x="22740" y="590652"/>
                  </a:lnTo>
                  <a:cubicBezTo>
                    <a:pt x="10181" y="590652"/>
                    <a:pt x="0" y="580471"/>
                    <a:pt x="0" y="567912"/>
                  </a:cubicBezTo>
                  <a:lnTo>
                    <a:pt x="0" y="22740"/>
                  </a:lnTo>
                  <a:cubicBezTo>
                    <a:pt x="0" y="10181"/>
                    <a:pt x="10181" y="0"/>
                    <a:pt x="22740" y="0"/>
                  </a:cubicBezTo>
                  <a:close/>
                </a:path>
              </a:pathLst>
            </a:custGeom>
            <a:ln w="19050" cap="rnd">
              <a:solidFill>
                <a:srgbClr val="FB4E35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2950697" cy="657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86371" y="4919216"/>
            <a:ext cx="13130866" cy="354265"/>
            <a:chOff x="0" y="0"/>
            <a:chExt cx="2231416" cy="602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31416" cy="60203"/>
            </a:xfrm>
            <a:custGeom>
              <a:avLst/>
              <a:gdLst/>
              <a:ahLst/>
              <a:cxnLst/>
              <a:rect r="r" b="b" t="t" l="l"/>
              <a:pathLst>
                <a:path h="60203" w="2231416">
                  <a:moveTo>
                    <a:pt x="30069" y="0"/>
                  </a:moveTo>
                  <a:lnTo>
                    <a:pt x="2201347" y="0"/>
                  </a:lnTo>
                  <a:cubicBezTo>
                    <a:pt x="2217954" y="0"/>
                    <a:pt x="2231416" y="13463"/>
                    <a:pt x="2231416" y="30069"/>
                  </a:cubicBezTo>
                  <a:lnTo>
                    <a:pt x="2231416" y="30133"/>
                  </a:lnTo>
                  <a:cubicBezTo>
                    <a:pt x="2231416" y="38108"/>
                    <a:pt x="2228248" y="45756"/>
                    <a:pt x="2222609" y="51396"/>
                  </a:cubicBezTo>
                  <a:cubicBezTo>
                    <a:pt x="2216970" y="57035"/>
                    <a:pt x="2209322" y="60203"/>
                    <a:pt x="2201347" y="60203"/>
                  </a:cubicBezTo>
                  <a:lnTo>
                    <a:pt x="30069" y="60203"/>
                  </a:lnTo>
                  <a:cubicBezTo>
                    <a:pt x="22095" y="60203"/>
                    <a:pt x="14446" y="57035"/>
                    <a:pt x="8807" y="51396"/>
                  </a:cubicBezTo>
                  <a:cubicBezTo>
                    <a:pt x="3168" y="45756"/>
                    <a:pt x="0" y="38108"/>
                    <a:pt x="0" y="30133"/>
                  </a:cubicBezTo>
                  <a:lnTo>
                    <a:pt x="0" y="30069"/>
                  </a:lnTo>
                  <a:cubicBezTo>
                    <a:pt x="0" y="22095"/>
                    <a:pt x="3168" y="14446"/>
                    <a:pt x="8807" y="8807"/>
                  </a:cubicBezTo>
                  <a:cubicBezTo>
                    <a:pt x="14446" y="3168"/>
                    <a:pt x="22095" y="0"/>
                    <a:pt x="30069" y="0"/>
                  </a:cubicBezTo>
                  <a:close/>
                </a:path>
              </a:pathLst>
            </a:custGeom>
            <a:ln w="19050" cap="rnd">
              <a:solidFill>
                <a:srgbClr val="05FF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2231416" cy="126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632562" y="160020"/>
            <a:ext cx="7022877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762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6 - La feuille de route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803617" y="9827246"/>
            <a:ext cx="49088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387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68291" y="2923357"/>
            <a:ext cx="9482174" cy="94821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62A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85151" lIns="85151" bIns="85151" rIns="85151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97881" y="3750107"/>
            <a:ext cx="7674140" cy="76741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1458" t="0" r="-11458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197881" y="1881487"/>
            <a:ext cx="3737241" cy="373724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33561" lIns="33561" bIns="33561" rIns="33561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330710" y="2014316"/>
            <a:ext cx="3471582" cy="3471582"/>
            <a:chOff x="0" y="0"/>
            <a:chExt cx="812800" cy="812800"/>
          </a:xfrm>
        </p:grpSpPr>
        <p:sp>
          <p:nvSpPr>
            <p:cNvPr name="Freeform 11" id="11">
              <a:hlinkClick r:id="rId3" tooltip="https://www.canva.com/design/DAHCOr_OUsg/7n_bUoa0tbzcciq53qvrHA/edit?utm_content=DAHCOr_OUsg&amp;utm_campaign=designshare&amp;utm_medium=link2&amp;utm_source=sharebutton"/>
            </p:cNvPr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188" t="0" r="-47234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55087" y="6601128"/>
            <a:ext cx="3239480" cy="640486"/>
            <a:chOff x="0" y="0"/>
            <a:chExt cx="853196" cy="1686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3196" cy="168688"/>
            </a:xfrm>
            <a:custGeom>
              <a:avLst/>
              <a:gdLst/>
              <a:ahLst/>
              <a:cxnLst/>
              <a:rect r="r" b="b" t="t" l="l"/>
              <a:pathLst>
                <a:path h="168688" w="853196">
                  <a:moveTo>
                    <a:pt x="84344" y="0"/>
                  </a:moveTo>
                  <a:lnTo>
                    <a:pt x="768853" y="0"/>
                  </a:lnTo>
                  <a:cubicBezTo>
                    <a:pt x="791222" y="0"/>
                    <a:pt x="812675" y="8886"/>
                    <a:pt x="828493" y="24704"/>
                  </a:cubicBezTo>
                  <a:cubicBezTo>
                    <a:pt x="844310" y="40521"/>
                    <a:pt x="853196" y="61974"/>
                    <a:pt x="853196" y="84344"/>
                  </a:cubicBezTo>
                  <a:lnTo>
                    <a:pt x="853196" y="84344"/>
                  </a:lnTo>
                  <a:cubicBezTo>
                    <a:pt x="853196" y="106713"/>
                    <a:pt x="844310" y="128166"/>
                    <a:pt x="828493" y="143984"/>
                  </a:cubicBezTo>
                  <a:cubicBezTo>
                    <a:pt x="812675" y="159802"/>
                    <a:pt x="791222" y="168688"/>
                    <a:pt x="768853" y="168688"/>
                  </a:cubicBezTo>
                  <a:lnTo>
                    <a:pt x="84344" y="168688"/>
                  </a:lnTo>
                  <a:cubicBezTo>
                    <a:pt x="61974" y="168688"/>
                    <a:pt x="40521" y="159802"/>
                    <a:pt x="24704" y="143984"/>
                  </a:cubicBezTo>
                  <a:cubicBezTo>
                    <a:pt x="8886" y="128166"/>
                    <a:pt x="0" y="106713"/>
                    <a:pt x="0" y="84344"/>
                  </a:cubicBezTo>
                  <a:lnTo>
                    <a:pt x="0" y="84344"/>
                  </a:lnTo>
                  <a:cubicBezTo>
                    <a:pt x="0" y="61974"/>
                    <a:pt x="8886" y="40521"/>
                    <a:pt x="24704" y="24704"/>
                  </a:cubicBezTo>
                  <a:cubicBezTo>
                    <a:pt x="40521" y="8886"/>
                    <a:pt x="61974" y="0"/>
                    <a:pt x="84344" y="0"/>
                  </a:cubicBezTo>
                  <a:close/>
                </a:path>
              </a:pathLst>
            </a:custGeom>
            <a:solidFill>
              <a:srgbClr val="B5DE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853196" cy="235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-1693713" y="-235508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1693713" y="-1977657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1693713" y="-1557545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1693713" y="-1137434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5"/>
                </a:lnTo>
                <a:lnTo>
                  <a:pt x="0" y="22498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1693713" y="-717322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4"/>
                </a:lnTo>
                <a:lnTo>
                  <a:pt x="0" y="22498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1693713" y="-297211"/>
            <a:ext cx="20285300" cy="2249824"/>
          </a:xfrm>
          <a:custGeom>
            <a:avLst/>
            <a:gdLst/>
            <a:ahLst/>
            <a:cxnLst/>
            <a:rect r="r" b="b" t="t" l="l"/>
            <a:pathLst>
              <a:path h="2249824" w="20285300">
                <a:moveTo>
                  <a:pt x="0" y="0"/>
                </a:moveTo>
                <a:lnTo>
                  <a:pt x="20285300" y="0"/>
                </a:lnTo>
                <a:lnTo>
                  <a:pt x="20285300" y="2249825"/>
                </a:lnTo>
                <a:lnTo>
                  <a:pt x="0" y="22498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45527" y="6675659"/>
            <a:ext cx="305860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762A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Kemel, Honoré, Lise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5087" y="3759094"/>
            <a:ext cx="8617080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3878"/>
                </a:solidFill>
                <a:latin typeface="Poppins Bold"/>
                <a:ea typeface="Poppins Bold"/>
                <a:cs typeface="Poppins Bold"/>
                <a:sym typeface="Poppins Bold"/>
              </a:rPr>
              <a:t>Merci de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5087" y="4933447"/>
            <a:ext cx="9956573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762A4"/>
                </a:solidFill>
                <a:latin typeface="Poppins Bold"/>
                <a:ea typeface="Poppins Bold"/>
                <a:cs typeface="Poppins Bold"/>
                <a:sym typeface="Poppins Bold"/>
              </a:rPr>
              <a:t>votre écoute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5087" y="3160118"/>
            <a:ext cx="622563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220">
                <a:solidFill>
                  <a:srgbClr val="00387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Revue finale - projet Waterpolo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813140" y="9809337"/>
            <a:ext cx="47486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DAHCOr_OUsg</dc:identifier>
  <dcterms:modified xsi:type="dcterms:W3CDTF">2011-08-01T06:04:30Z</dcterms:modified>
  <cp:revision>1</cp:revision>
  <dc:title>Waterpolo projet - revue3</dc:title>
</cp:coreProperties>
</file>